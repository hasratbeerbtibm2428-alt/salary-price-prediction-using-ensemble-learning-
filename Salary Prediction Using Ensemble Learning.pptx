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DM Sans Light" panose="020B0604020202020204" charset="0"/>
      <p:regular r:id="rId13"/>
    </p:embeddedFont>
    <p:embeddedFont>
      <p:font typeface="DM Sans SemiBold" panose="020B0604020202020204" charset="0"/>
      <p:regular r:id="rId14"/>
    </p:embeddedFont>
    <p:embeddedFont>
      <p:font typeface="Inter Bold" panose="020B0604020202020204" charset="0"/>
      <p:regular r:id="rId15"/>
    </p:embeddedFont>
    <p:embeddedFont>
      <p:font typeface="Inter Medium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77" y="-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43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296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Salary Prediction Using Ensemble Learning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28205"/>
            <a:ext cx="4722763" cy="138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Presented by Hasratbeer kaur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Reg No 72412054 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College Name CT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5253" y="93914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u="sng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Introduction</a:t>
            </a:r>
            <a:endParaRPr lang="en-US" sz="2800" b="1" u="sng" dirty="0"/>
          </a:p>
        </p:txBody>
      </p:sp>
      <p:sp>
        <p:nvSpPr>
          <p:cNvPr id="3" name="Text 1"/>
          <p:cNvSpPr/>
          <p:nvPr/>
        </p:nvSpPr>
        <p:spPr>
          <a:xfrm>
            <a:off x="496119" y="186913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Salary prediction uses Machine Learning to estimate a person's salary based on their job, experience, and company details.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82230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94292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Pattern Recognition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249439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ML models uncover hidden salary patterns across roles, locations, and experience levels.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482230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294292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Ensemble Learning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249439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Combines multiple models to deliver more accurate and reliable salary estimates.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2482230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294292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Interactive Dashboard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249439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user-friendly interface provides instant, actionable salary predictions for any profile.</a:t>
            </a:r>
            <a:endParaRPr lang="en-US" sz="11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A6FD154-D647-5B3C-AE9E-0AA2F9546291}"/>
              </a:ext>
            </a:extLst>
          </p:cNvPr>
          <p:cNvSpPr/>
          <p:nvPr/>
        </p:nvSpPr>
        <p:spPr>
          <a:xfrm>
            <a:off x="0" y="4790049"/>
            <a:ext cx="9144000" cy="353451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3319" y="312416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u="sng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Problem Statement</a:t>
            </a:r>
            <a:endParaRPr lang="en-US" sz="2400" u="sng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97025"/>
            <a:ext cx="4911700" cy="3274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9216" y="1038225"/>
            <a:ext cx="266335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Why Salary Prediction is Hard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9216" y="1338560"/>
            <a:ext cx="2663354" cy="9082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80237" y="1472431"/>
            <a:ext cx="23384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Inconsistent Estimates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180237" y="1760190"/>
            <a:ext cx="2338462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Manual salary estimation is time-consuming and prone to human bias.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9216" y="2347689"/>
            <a:ext cx="2663354" cy="10845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80237" y="2481560"/>
            <a:ext cx="23384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Multi-Factor Complexity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6180237" y="2785802"/>
            <a:ext cx="2338462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23000"/>
              </a:lnSpc>
            </a:pPr>
            <a:r>
              <a:rPr lang="en-IN" sz="1100" dirty="0"/>
              <a:t>A person's salary is affected by their experience, work location, company size, and job role together</a:t>
            </a:r>
            <a:r>
              <a:rPr lang="en-IN" sz="900" dirty="0"/>
              <a:t>.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9216" y="3533180"/>
            <a:ext cx="2663354" cy="108458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80237" y="3667051"/>
            <a:ext cx="23384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Single-Model Limitations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6180237" y="3954810"/>
            <a:ext cx="2338462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3000"/>
              </a:lnSpc>
            </a:pPr>
            <a:r>
              <a:rPr lang="en-IN" sz="1100" dirty="0"/>
              <a:t>A single machine learning model may not always give accurate and consistent predictions.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A6347B-7E07-E813-6A3D-695B5F96FA23}"/>
              </a:ext>
            </a:extLst>
          </p:cNvPr>
          <p:cNvSpPr/>
          <p:nvPr/>
        </p:nvSpPr>
        <p:spPr>
          <a:xfrm>
            <a:off x="0" y="4827710"/>
            <a:ext cx="9144000" cy="3157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2119" y="59091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u="sng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Project Objectives</a:t>
            </a:r>
            <a:endParaRPr lang="en-US" sz="2750" u="sng" dirty="0"/>
          </a:p>
        </p:txBody>
      </p:sp>
      <p:sp>
        <p:nvSpPr>
          <p:cNvPr id="3" name="Text 1"/>
          <p:cNvSpPr/>
          <p:nvPr/>
        </p:nvSpPr>
        <p:spPr>
          <a:xfrm>
            <a:off x="496119" y="1666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88778"/>
            <a:ext cx="4004965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997720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 Salaries with ML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04231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Build regression models trained on real-world DS salary data.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42842" y="1666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888778"/>
            <a:ext cx="4005039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9" name="Text 7"/>
          <p:cNvSpPr/>
          <p:nvPr/>
        </p:nvSpPr>
        <p:spPr>
          <a:xfrm>
            <a:off x="4642842" y="1997720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Compare Multiple Algorithms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2842" y="2304231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Evaluate Linear Regression, Decision Tree, Random Forest, and Gradient Boosting.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227784"/>
            <a:ext cx="4004965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333672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Improve Accuracy via Ensembling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119" y="3643238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Combine best-performing models to reduce error and increase stability.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2842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3227784"/>
            <a:ext cx="4005039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842" y="3336727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Deploy an Interactive Dashboard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2842" y="3643238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Deliver a clean UI for instant salary estimation by non-technical users.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81A3A2-F3BD-ED04-B04F-320214569E2D}"/>
              </a:ext>
            </a:extLst>
          </p:cNvPr>
          <p:cNvSpPr/>
          <p:nvPr/>
        </p:nvSpPr>
        <p:spPr>
          <a:xfrm>
            <a:off x="0" y="4827710"/>
            <a:ext cx="9144000" cy="3157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09357" y="9518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00" u="sng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Dataset Overview</a:t>
            </a:r>
            <a:endParaRPr lang="en-US" sz="3600" u="sng" dirty="0"/>
          </a:p>
        </p:txBody>
      </p:sp>
      <p:sp>
        <p:nvSpPr>
          <p:cNvPr id="4" name="Text 2"/>
          <p:cNvSpPr/>
          <p:nvPr/>
        </p:nvSpPr>
        <p:spPr>
          <a:xfrm>
            <a:off x="1712209" y="1056162"/>
            <a:ext cx="1090017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DS SALARIES DATASET</a:t>
            </a:r>
            <a:endParaRPr lang="en-US" sz="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9" y="73442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87905" y="1090465"/>
            <a:ext cx="3989412" cy="55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the Data Captures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334331" y="1642797"/>
            <a:ext cx="4243472" cy="1494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dirty="0"/>
              <a:t>The dataset includes many data science jobs from different countries and contains the main factors that affect salary.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060731" y="2561602"/>
            <a:ext cx="3726457" cy="225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dirty="0"/>
              <a:t>1. Text data was converted into numbers so the model could understand it. </a:t>
            </a:r>
          </a:p>
          <a:p>
            <a:r>
              <a:rPr lang="en-IN" dirty="0"/>
              <a:t>2. Salary (USD) was used as the value to be predicted. </a:t>
            </a:r>
          </a:p>
          <a:p>
            <a:r>
              <a:rPr lang="en-IN" dirty="0"/>
              <a:t>3. The dataset includes data from different countries and different types of companies. </a:t>
            </a:r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03B85E-0061-4706-6ABD-C1D9FE507DB8}"/>
              </a:ext>
            </a:extLst>
          </p:cNvPr>
          <p:cNvSpPr/>
          <p:nvPr/>
        </p:nvSpPr>
        <p:spPr>
          <a:xfrm>
            <a:off x="0" y="4827710"/>
            <a:ext cx="9144000" cy="3157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7202" y="33536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u="sng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Project Workflow</a:t>
            </a:r>
            <a:endParaRPr lang="en-US" sz="2750" u="sng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147986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390127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Training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Split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Encoding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Cleaning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Collection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3995514"/>
            <a:ext cx="8151763" cy="726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b="1" dirty="0"/>
              <a:t>A step-by-step process was followed from data collection to prediction.</a:t>
            </a:r>
            <a:r>
              <a:rPr lang="en-IN" dirty="0"/>
              <a:t> </a:t>
            </a:r>
          </a:p>
          <a:p>
            <a:r>
              <a:rPr lang="en-IN" b="1" dirty="0"/>
              <a:t>This process helped improve data quality and build a reliable prediction system.</a:t>
            </a:r>
            <a:r>
              <a:rPr lang="en-IN" dirty="0"/>
              <a:t> 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0AA4DE-8E9B-E5E1-0066-8B35B3ED7CBA}"/>
              </a:ext>
            </a:extLst>
          </p:cNvPr>
          <p:cNvSpPr/>
          <p:nvPr/>
        </p:nvSpPr>
        <p:spPr>
          <a:xfrm>
            <a:off x="0" y="4827710"/>
            <a:ext cx="9144000" cy="3157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1319" y="39332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u="sng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Preprocessing &amp; ML Models</a:t>
            </a:r>
            <a:endParaRPr lang="en-US" sz="2750" u="sng" dirty="0"/>
          </a:p>
        </p:txBody>
      </p:sp>
      <p:sp>
        <p:nvSpPr>
          <p:cNvPr id="3" name="Text 1"/>
          <p:cNvSpPr/>
          <p:nvPr/>
        </p:nvSpPr>
        <p:spPr>
          <a:xfrm>
            <a:off x="496119" y="124814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Preprocessing Steps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1636142"/>
            <a:ext cx="212601" cy="212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1629073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Removed irrelevant and redundant columns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2352005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2344936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One-hot encoded categorical features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3067869"/>
            <a:ext cx="212601" cy="2126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6816" y="3060799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Selected high-impact attributes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3783732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6816" y="3776663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Split data 80/20 for training and testing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749701" y="124814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Models Compared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4749701" y="1629073"/>
            <a:ext cx="1880592" cy="873547"/>
          </a:xfrm>
          <a:prstGeom prst="roundRect">
            <a:avLst>
              <a:gd name="adj" fmla="val 2434"/>
            </a:avLst>
          </a:prstGeom>
          <a:solidFill>
            <a:srgbClr val="F2EEEE"/>
          </a:solidFill>
          <a:ln/>
        </p:spPr>
      </p:sp>
      <p:sp>
        <p:nvSpPr>
          <p:cNvPr id="14" name="Text 8"/>
          <p:cNvSpPr/>
          <p:nvPr/>
        </p:nvSpPr>
        <p:spPr>
          <a:xfrm>
            <a:off x="4891460" y="1770831"/>
            <a:ext cx="15970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891460" y="2134046"/>
            <a:ext cx="15970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Baseline model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772052" y="1629073"/>
            <a:ext cx="1880592" cy="873547"/>
          </a:xfrm>
          <a:prstGeom prst="roundRect">
            <a:avLst>
              <a:gd name="adj" fmla="val 2434"/>
            </a:avLst>
          </a:prstGeom>
          <a:solidFill>
            <a:srgbClr val="F2EEEE"/>
          </a:solidFill>
          <a:ln/>
        </p:spPr>
      </p:sp>
      <p:sp>
        <p:nvSpPr>
          <p:cNvPr id="17" name="Text 11"/>
          <p:cNvSpPr/>
          <p:nvPr/>
        </p:nvSpPr>
        <p:spPr>
          <a:xfrm>
            <a:off x="6913811" y="1770831"/>
            <a:ext cx="15970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913811" y="2134046"/>
            <a:ext cx="15970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Non-linear splits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749701" y="2644378"/>
            <a:ext cx="1880592" cy="873547"/>
          </a:xfrm>
          <a:prstGeom prst="roundRect">
            <a:avLst>
              <a:gd name="adj" fmla="val 2434"/>
            </a:avLst>
          </a:prstGeom>
          <a:solidFill>
            <a:srgbClr val="F2EEEE"/>
          </a:solidFill>
          <a:ln/>
        </p:spPr>
      </p:sp>
      <p:sp>
        <p:nvSpPr>
          <p:cNvPr id="20" name="Text 14"/>
          <p:cNvSpPr/>
          <p:nvPr/>
        </p:nvSpPr>
        <p:spPr>
          <a:xfrm>
            <a:off x="4891460" y="2786137"/>
            <a:ext cx="15970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891460" y="3149352"/>
            <a:ext cx="15970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Bagging ensemble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772052" y="2644378"/>
            <a:ext cx="1880592" cy="873547"/>
          </a:xfrm>
          <a:prstGeom prst="roundRect">
            <a:avLst>
              <a:gd name="adj" fmla="val 2434"/>
            </a:avLst>
          </a:prstGeom>
          <a:solidFill>
            <a:srgbClr val="F2EEEE"/>
          </a:solidFill>
          <a:ln/>
        </p:spPr>
      </p:sp>
      <p:sp>
        <p:nvSpPr>
          <p:cNvPr id="23" name="Text 17"/>
          <p:cNvSpPr/>
          <p:nvPr/>
        </p:nvSpPr>
        <p:spPr>
          <a:xfrm>
            <a:off x="6913811" y="2786137"/>
            <a:ext cx="15970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Gradient Boosting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913811" y="3149352"/>
            <a:ext cx="15970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Boosting ensemble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749701" y="3659684"/>
            <a:ext cx="3902943" cy="873547"/>
          </a:xfrm>
          <a:prstGeom prst="roundRect">
            <a:avLst>
              <a:gd name="adj" fmla="val 2434"/>
            </a:avLst>
          </a:prstGeom>
          <a:solidFill>
            <a:srgbClr val="F2EEEE"/>
          </a:solidFill>
          <a:ln/>
        </p:spPr>
      </p:sp>
      <p:sp>
        <p:nvSpPr>
          <p:cNvPr id="26" name="Text 20"/>
          <p:cNvSpPr/>
          <p:nvPr/>
        </p:nvSpPr>
        <p:spPr>
          <a:xfrm>
            <a:off x="4891460" y="3801442"/>
            <a:ext cx="36194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Ensemble Model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891460" y="4164657"/>
            <a:ext cx="36194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Final predictor</a:t>
            </a:r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987EEE-5339-3E8F-C69B-E8A4E83EBCAC}"/>
              </a:ext>
            </a:extLst>
          </p:cNvPr>
          <p:cNvSpPr/>
          <p:nvPr/>
        </p:nvSpPr>
        <p:spPr>
          <a:xfrm>
            <a:off x="0" y="4827710"/>
            <a:ext cx="9144000" cy="3157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5780"/>
            <a:ext cx="4722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Why Ensemble Learning?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496119" y="799430"/>
            <a:ext cx="4722763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Ensemble methods combine predictions from multiple models, reducing variance and bias to produce a more accurate and stable final output.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400869" y="1132805"/>
            <a:ext cx="4722763" cy="854869"/>
          </a:xfrm>
          <a:prstGeom prst="roundRect">
            <a:avLst>
              <a:gd name="adj" fmla="val 167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3"/>
          <p:cNvSpPr/>
          <p:nvPr/>
        </p:nvSpPr>
        <p:spPr>
          <a:xfrm>
            <a:off x="591369" y="1221432"/>
            <a:ext cx="285750" cy="28575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950" y="1300014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1369" y="1571179"/>
            <a:ext cx="45322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Model Combination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91369" y="1758404"/>
            <a:ext cx="45322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1000"/>
              </a:lnSpc>
            </a:pPr>
            <a:r>
              <a:rPr lang="en-IN" sz="800" dirty="0"/>
              <a:t>It combines the predictions of Random Forest, Gradient Boosting, and other models</a:t>
            </a:r>
          </a:p>
          <a:p>
            <a:pPr>
              <a:lnSpc>
                <a:spcPct val="111000"/>
              </a:lnSpc>
            </a:pP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496119" y="2045047"/>
            <a:ext cx="4722763" cy="854869"/>
          </a:xfrm>
          <a:prstGeom prst="roundRect">
            <a:avLst>
              <a:gd name="adj" fmla="val 1671"/>
            </a:avLst>
          </a:prstGeom>
          <a:solidFill>
            <a:srgbClr val="F2EEEE"/>
          </a:solidFill>
          <a:ln/>
        </p:spPr>
      </p:sp>
      <p:sp>
        <p:nvSpPr>
          <p:cNvPr id="11" name="Shape 7"/>
          <p:cNvSpPr/>
          <p:nvPr/>
        </p:nvSpPr>
        <p:spPr>
          <a:xfrm>
            <a:off x="591369" y="2140297"/>
            <a:ext cx="285750" cy="28575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950" y="2218879"/>
            <a:ext cx="128588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1369" y="2490043"/>
            <a:ext cx="45322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Reduced Error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91369" y="2677269"/>
            <a:ext cx="45322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Averaging predictions cancels out individual model weaknesses.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496119" y="2963912"/>
            <a:ext cx="4722763" cy="854869"/>
          </a:xfrm>
          <a:prstGeom prst="roundRect">
            <a:avLst>
              <a:gd name="adj" fmla="val 1671"/>
            </a:avLst>
          </a:prstGeom>
          <a:solidFill>
            <a:srgbClr val="F2EEEE"/>
          </a:solidFill>
          <a:ln/>
        </p:spPr>
      </p:sp>
      <p:sp>
        <p:nvSpPr>
          <p:cNvPr id="16" name="Shape 11"/>
          <p:cNvSpPr/>
          <p:nvPr/>
        </p:nvSpPr>
        <p:spPr>
          <a:xfrm>
            <a:off x="591369" y="3059162"/>
            <a:ext cx="285750" cy="28575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9950" y="3137743"/>
            <a:ext cx="128588" cy="128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1369" y="3408908"/>
            <a:ext cx="45322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Improved Stability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591369" y="3596134"/>
            <a:ext cx="45322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Less sensitive to outliers and noisy training data.</a:t>
            </a:r>
            <a:endParaRPr lang="en-US" sz="750" dirty="0"/>
          </a:p>
        </p:txBody>
      </p:sp>
      <p:sp>
        <p:nvSpPr>
          <p:cNvPr id="20" name="Shape 14"/>
          <p:cNvSpPr/>
          <p:nvPr/>
        </p:nvSpPr>
        <p:spPr>
          <a:xfrm>
            <a:off x="496119" y="3882777"/>
            <a:ext cx="4722763" cy="854869"/>
          </a:xfrm>
          <a:prstGeom prst="roundRect">
            <a:avLst>
              <a:gd name="adj" fmla="val 1671"/>
            </a:avLst>
          </a:prstGeom>
          <a:solidFill>
            <a:srgbClr val="F2EEEE"/>
          </a:solidFill>
          <a:ln/>
        </p:spPr>
      </p:sp>
      <p:sp>
        <p:nvSpPr>
          <p:cNvPr id="21" name="Shape 15"/>
          <p:cNvSpPr/>
          <p:nvPr/>
        </p:nvSpPr>
        <p:spPr>
          <a:xfrm>
            <a:off x="591369" y="3978027"/>
            <a:ext cx="285750" cy="28575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9950" y="4056608"/>
            <a:ext cx="128588" cy="128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91369" y="4327773"/>
            <a:ext cx="45322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Best Accuracy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91369" y="4514999"/>
            <a:ext cx="45322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Consistently outperforms all individual models on test data.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095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Model Performance &amp; Dashboard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70310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Comparative Performance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486273"/>
            <a:ext cx="391105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Replace placeholder values </a:t>
            </a:r>
            <a:r>
              <a:rPr lang="en-IN" sz="1200" dirty="0"/>
              <a:t>(e.g., XX.XX or 0.00) 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with actual R² / MAE / RMSE scores from your notebook.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6119" y="2077269"/>
            <a:ext cx="3911054" cy="2495178"/>
          </a:xfrm>
          <a:prstGeom prst="roundRect">
            <a:avLst>
              <a:gd name="adj" fmla="val 81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2670646"/>
            <a:ext cx="3911054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050530"/>
            <a:ext cx="3911054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430414"/>
            <a:ext cx="3911054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810298"/>
            <a:ext cx="3911054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4190181"/>
            <a:ext cx="3911054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5943" y="2164035"/>
            <a:ext cx="174768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96554" y="2164035"/>
            <a:ext cx="90033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 Trend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67013" y="2164035"/>
            <a:ext cx="13575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Ranking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5943" y="2755032"/>
            <a:ext cx="174768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Linear Regression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96554" y="2755032"/>
            <a:ext cx="13575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67013" y="2755032"/>
            <a:ext cx="13575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5943" y="3134916"/>
            <a:ext cx="174768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96554" y="3134916"/>
            <a:ext cx="13575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67013" y="3134916"/>
            <a:ext cx="13575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4th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5943" y="3514799"/>
            <a:ext cx="174768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96554" y="3514799"/>
            <a:ext cx="13575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67013" y="3514799"/>
            <a:ext cx="13575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5943" y="3894683"/>
            <a:ext cx="174768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Gradient Boosting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96554" y="3894683"/>
            <a:ext cx="13575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67013" y="3894683"/>
            <a:ext cx="13575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2nd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5943" y="4274567"/>
            <a:ext cx="174768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Ensemble Model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196554" y="4274567"/>
            <a:ext cx="13575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67013" y="4274567"/>
            <a:ext cx="13575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1st ✓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41590" y="1170310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Dashboard Features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41590" y="1526307"/>
            <a:ext cx="1891159" cy="1281410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5701" y="1680418"/>
            <a:ext cx="15829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Prediction Form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5701" y="2020267"/>
            <a:ext cx="1582936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Input fields for experience, role, location, and more.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61485" y="1526307"/>
            <a:ext cx="1891159" cy="1281410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15596" y="1680418"/>
            <a:ext cx="15829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Instant Results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15596" y="2020267"/>
            <a:ext cx="158293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Salary output generated in milliseconds.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41590" y="2943487"/>
            <a:ext cx="1891159" cy="1492523"/>
          </a:xfrm>
          <a:prstGeom prst="roundRect">
            <a:avLst>
              <a:gd name="adj" fmla="val 135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5701" y="3090565"/>
            <a:ext cx="158293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Interactive Charts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95701" y="3641527"/>
            <a:ext cx="1582936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Visual breakdown of salary factors and comparisons.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761485" y="2936453"/>
            <a:ext cx="1891159" cy="1492523"/>
          </a:xfrm>
          <a:prstGeom prst="roundRect">
            <a:avLst>
              <a:gd name="adj" fmla="val 135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15596" y="3090565"/>
            <a:ext cx="15829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🧭</a:t>
            </a: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Easy Navigation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15596" y="3430414"/>
            <a:ext cx="1582936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Clean UI designed for HR teams and job seekers.</a:t>
            </a:r>
            <a:endParaRPr lang="en-US" sz="105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C5A668C-3CD5-51B1-CDB8-54BDA504FB21}"/>
              </a:ext>
            </a:extLst>
          </p:cNvPr>
          <p:cNvSpPr/>
          <p:nvPr/>
        </p:nvSpPr>
        <p:spPr>
          <a:xfrm>
            <a:off x="0" y="4827710"/>
            <a:ext cx="9144000" cy="3157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6113" y="178513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u="sng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Results, Applications &amp; Future Scope</a:t>
            </a:r>
            <a:endParaRPr lang="en-US" sz="3200" u="sng" dirty="0"/>
          </a:p>
        </p:txBody>
      </p:sp>
      <p:sp>
        <p:nvSpPr>
          <p:cNvPr id="3" name="Text 1"/>
          <p:cNvSpPr/>
          <p:nvPr/>
        </p:nvSpPr>
        <p:spPr>
          <a:xfrm>
            <a:off x="1387072" y="838113"/>
            <a:ext cx="394617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217191"/>
            <a:ext cx="3946178" cy="502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Ensemble model achieved the highest prediction accuracy</a:t>
            </a:r>
            <a:endParaRPr lang="en-US" sz="16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Dashboard delivers instant, consistent salary estimates</a:t>
            </a:r>
            <a:endParaRPr lang="en-US" sz="16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System generalizes well across diverse employee profiles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0797" y="3109905"/>
            <a:ext cx="394617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Real-World Applications</a:t>
            </a:r>
          </a:p>
          <a:p>
            <a:pPr>
              <a:lnSpc>
                <a:spcPct val="104000"/>
              </a:lnSpc>
            </a:pPr>
            <a:r>
              <a:rPr lang="en-IN" sz="1400" b="1" dirty="0"/>
              <a:t>HR teams</a:t>
            </a:r>
            <a:r>
              <a:rPr lang="en-IN" sz="1400" dirty="0"/>
              <a:t> can estimate fair salaries for new employees. </a:t>
            </a:r>
          </a:p>
          <a:p>
            <a:pPr>
              <a:lnSpc>
                <a:spcPct val="104000"/>
              </a:lnSpc>
            </a:pPr>
            <a:r>
              <a:rPr lang="en-IN" sz="1400" b="1" dirty="0"/>
              <a:t>Companies</a:t>
            </a:r>
            <a:r>
              <a:rPr lang="en-IN" sz="1400" dirty="0"/>
              <a:t> can plan salary budgets more effectively. </a:t>
            </a:r>
          </a:p>
          <a:p>
            <a:pPr>
              <a:lnSpc>
                <a:spcPct val="104000"/>
              </a:lnSpc>
            </a:pPr>
            <a:r>
              <a:rPr lang="en-IN" sz="1400" b="1" dirty="0"/>
              <a:t>Job seekers</a:t>
            </a:r>
            <a:r>
              <a:rPr lang="en-IN" sz="1400" dirty="0"/>
              <a:t> can understand the expected salary for a role.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6466" y="971401"/>
            <a:ext cx="394617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6466" y="1227162"/>
            <a:ext cx="239167" cy="23916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025330" y="1263700"/>
            <a:ext cx="362731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Data Integration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5330" y="1509489"/>
            <a:ext cx="362731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Live salary feeds for up-to-date predictions.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6466" y="1817787"/>
            <a:ext cx="239167" cy="23916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5051896" y="1915231"/>
            <a:ext cx="362731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Cloud Deployment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5330" y="2100114"/>
            <a:ext cx="362731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Scalable API access for enterprise use.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06466" y="2408411"/>
            <a:ext cx="239167" cy="23916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5330" y="2444948"/>
            <a:ext cx="362731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Mobile Application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5330" y="2690738"/>
            <a:ext cx="362731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On-the-go salary insights for job seekers.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06466" y="2999036"/>
            <a:ext cx="239167" cy="23916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5330" y="3035573"/>
            <a:ext cx="362731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Recommendations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5330" y="3281363"/>
            <a:ext cx="362731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Personalized career and upskilling suggestions.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06466" y="3519860"/>
            <a:ext cx="3946178" cy="643086"/>
          </a:xfrm>
          <a:prstGeom prst="roundRect">
            <a:avLst>
              <a:gd name="adj" fmla="val 2480"/>
            </a:avLst>
          </a:prstGeom>
          <a:solidFill>
            <a:srgbClr val="D4F7EC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729" y="3673971"/>
            <a:ext cx="132904" cy="10626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51896" y="3618161"/>
            <a:ext cx="349448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Conclusion:</a:t>
            </a:r>
            <a:r>
              <a:rPr lang="en-US" sz="8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This project demonstrates that Ensemble Learning significantly improves salary prediction accuracy, and an interactive dashboard makes ML accessible to real-world decision-makers.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02382" y="4448547"/>
            <a:ext cx="793923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8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78A71A-9B93-CB55-C2E7-5E56B5D8B66E}"/>
              </a:ext>
            </a:extLst>
          </p:cNvPr>
          <p:cNvSpPr/>
          <p:nvPr/>
        </p:nvSpPr>
        <p:spPr>
          <a:xfrm>
            <a:off x="0" y="4827710"/>
            <a:ext cx="9144000" cy="3157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17000"/>
              </a:lnSpc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                                                                  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1403</TotalTime>
  <Words>681</Words>
  <Application>Microsoft Office PowerPoint</Application>
  <PresentationFormat>On-screen Show (16:9)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Inter Medium</vt:lpstr>
      <vt:lpstr>Arial</vt:lpstr>
      <vt:lpstr>DM Sans Light</vt:lpstr>
      <vt:lpstr>DM Sans SemiBold</vt:lpstr>
      <vt:lpstr>Twemoji Mozilla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Done Code</dc:creator>
  <cp:lastModifiedBy>Done Code</cp:lastModifiedBy>
  <cp:revision>4</cp:revision>
  <dcterms:created xsi:type="dcterms:W3CDTF">2026-07-27T22:08:15Z</dcterms:created>
  <dcterms:modified xsi:type="dcterms:W3CDTF">2026-07-29T02:32:44Z</dcterms:modified>
</cp:coreProperties>
</file>